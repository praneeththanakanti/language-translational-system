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0ba40f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0ba40f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0ba40fa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0ba40f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60ba40f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60ba40f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60ba40fa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60ba40f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0ba40f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0ba40f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0ba40fa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60ba40fa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60ba40fa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60ba40fa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60ba40f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60ba40f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80"/>
              <a:t>Neural Machine Translation using Transformer Architecture</a:t>
            </a:r>
            <a:endParaRPr sz="43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THANAKANTI PRANEETH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The Challenge: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Language barriers hinder global communication in business, education, and crisis response.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Traditional translation systems (SMT) lack context awareness.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Technical Bottleneck: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Previous State-of-the-Art models (RNNs/LSTMs) process data sequentially (word-by-word).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Issue:</a:t>
            </a:r>
            <a:r>
              <a:rPr lang="en" sz="1600">
                <a:solidFill>
                  <a:schemeClr val="dk1"/>
                </a:solidFill>
              </a:rPr>
              <a:t> They "forget" the beginning of long sentences by the time they reach the end (Vanishing Gradient Problem).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Consequence:</a:t>
            </a:r>
            <a:r>
              <a:rPr lang="en" sz="1600">
                <a:solidFill>
                  <a:schemeClr val="dk1"/>
                </a:solidFill>
              </a:rPr>
              <a:t> Slow training and low accuracy on complex sentence structures.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Solution: Transformer Architecture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Paradigm Shift:</a:t>
            </a:r>
            <a:r>
              <a:rPr lang="en" sz="1600">
                <a:solidFill>
                  <a:schemeClr val="dk1"/>
                </a:solidFill>
              </a:rPr>
              <a:t> Moving from </a:t>
            </a:r>
            <a:r>
              <a:rPr b="1" lang="en" sz="1600">
                <a:solidFill>
                  <a:schemeClr val="dk1"/>
                </a:solidFill>
              </a:rPr>
              <a:t>Recurrence</a:t>
            </a:r>
            <a:r>
              <a:rPr lang="en" sz="1600">
                <a:solidFill>
                  <a:schemeClr val="dk1"/>
                </a:solidFill>
              </a:rPr>
              <a:t> (RNN) to </a:t>
            </a:r>
            <a:r>
              <a:rPr b="1" lang="en" sz="1600">
                <a:solidFill>
                  <a:schemeClr val="dk1"/>
                </a:solidFill>
              </a:rPr>
              <a:t>Attention</a:t>
            </a:r>
            <a:r>
              <a:rPr lang="en" sz="1600">
                <a:solidFill>
                  <a:schemeClr val="dk1"/>
                </a:solidFill>
              </a:rPr>
              <a:t> (Transformer).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Why Transformers?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Parallelization:</a:t>
            </a:r>
            <a:r>
              <a:rPr lang="en" sz="1600">
                <a:solidFill>
                  <a:schemeClr val="dk1"/>
                </a:solidFill>
              </a:rPr>
              <a:t> Processes the entire sentence at once, not word-by-word.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Self-Attention:</a:t>
            </a:r>
            <a:r>
              <a:rPr lang="en" sz="1600">
                <a:solidFill>
                  <a:schemeClr val="dk1"/>
                </a:solidFill>
              </a:rPr>
              <a:t> The model looks at </a:t>
            </a:r>
            <a:r>
              <a:rPr i="1" lang="en" sz="1600">
                <a:solidFill>
                  <a:schemeClr val="dk1"/>
                </a:solidFill>
              </a:rPr>
              <a:t>every</a:t>
            </a:r>
            <a:r>
              <a:rPr lang="en" sz="1600">
                <a:solidFill>
                  <a:schemeClr val="dk1"/>
                </a:solidFill>
              </a:rPr>
              <a:t> word in the sentence simultaneously to understand context.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Scalability:</a:t>
            </a:r>
            <a:r>
              <a:rPr lang="en" sz="1600">
                <a:solidFill>
                  <a:schemeClr val="dk1"/>
                </a:solidFill>
              </a:rPr>
              <a:t> significantly faster training on GPUs compared to LSTMs.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Architecture Components: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Encoder:</a:t>
            </a:r>
            <a:r>
              <a:rPr lang="en" sz="1700">
                <a:solidFill>
                  <a:schemeClr val="dk1"/>
                </a:solidFill>
              </a:rPr>
              <a:t> Processes the source German text. It uses "Positional Encoding" to understand word order since there is no recurrence.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Multi-Head Attention:</a:t>
            </a:r>
            <a:r>
              <a:rPr lang="en" sz="1700">
                <a:solidFill>
                  <a:schemeClr val="dk1"/>
                </a:solidFill>
              </a:rPr>
              <a:t> Allows the model to focus on different aspects of language simultaneously (e.g., Head 1 focuses on grammar, Head 2 on vocabulary).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Decoder:</a:t>
            </a:r>
            <a:r>
              <a:rPr lang="en" sz="1700">
                <a:solidFill>
                  <a:schemeClr val="dk1"/>
                </a:solidFill>
              </a:rPr>
              <a:t> Generates English text step-by-step, attending back to the relevant parts of the German input.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Tech Stack: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Framework:</a:t>
            </a:r>
            <a:r>
              <a:rPr lang="en" sz="1700">
                <a:solidFill>
                  <a:schemeClr val="dk1"/>
                </a:solidFill>
              </a:rPr>
              <a:t> PyTorch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Library:</a:t>
            </a:r>
            <a:r>
              <a:rPr lang="en" sz="1700">
                <a:solidFill>
                  <a:schemeClr val="dk1"/>
                </a:solidFill>
              </a:rPr>
              <a:t> TorchText (for data handling)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 &amp; Pipeline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Dataset:</a:t>
            </a:r>
            <a:r>
              <a:rPr lang="en">
                <a:solidFill>
                  <a:schemeClr val="dk1"/>
                </a:solidFill>
              </a:rPr>
              <a:t> Multi30k (Standard Benchmark for NMT).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Source:</a:t>
            </a:r>
            <a:r>
              <a:rPr lang="en" sz="1800">
                <a:solidFill>
                  <a:schemeClr val="dk1"/>
                </a:solidFill>
              </a:rPr>
              <a:t> German (de) | </a:t>
            </a:r>
            <a:r>
              <a:rPr b="1" lang="en" sz="1800">
                <a:solidFill>
                  <a:schemeClr val="dk1"/>
                </a:solidFill>
              </a:rPr>
              <a:t>Target:</a:t>
            </a:r>
            <a:r>
              <a:rPr lang="en" sz="1800">
                <a:solidFill>
                  <a:schemeClr val="dk1"/>
                </a:solidFill>
              </a:rPr>
              <a:t> English (en)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Preprocessing Workflow: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Tokenization:</a:t>
            </a:r>
            <a:r>
              <a:rPr lang="en" sz="1800">
                <a:solidFill>
                  <a:schemeClr val="dk1"/>
                </a:solidFill>
              </a:rPr>
              <a:t> Breaking text into words (using spaCy).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Vocabulary Build:</a:t>
            </a:r>
            <a:r>
              <a:rPr lang="en" sz="1800">
                <a:solidFill>
                  <a:schemeClr val="dk1"/>
                </a:solidFill>
              </a:rPr>
              <a:t> Indexing words appearing frequency &gt; 2.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Bucketing:</a:t>
            </a:r>
            <a:r>
              <a:rPr lang="en" sz="1800">
                <a:solidFill>
                  <a:schemeClr val="dk1"/>
                </a:solidFill>
              </a:rPr>
              <a:t> Grouping sentences of similar length to minimize padding overhead.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Results &amp; Performance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Metric:</a:t>
            </a:r>
            <a:r>
              <a:rPr lang="en">
                <a:solidFill>
                  <a:schemeClr val="dk1"/>
                </a:solidFill>
              </a:rPr>
              <a:t> BLEU Score (Bilingual Evaluation Understudy).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Performance: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Training Loss:</a:t>
            </a:r>
            <a:r>
              <a:rPr lang="en" sz="1800">
                <a:solidFill>
                  <a:schemeClr val="dk1"/>
                </a:solidFill>
              </a:rPr>
              <a:t> Reduced from 5.8 $\rightarrow$ 1.9.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Validation Loss:</a:t>
            </a:r>
            <a:r>
              <a:rPr lang="en" sz="1800">
                <a:solidFill>
                  <a:schemeClr val="dk1"/>
                </a:solidFill>
              </a:rPr>
              <a:t> Stabilized at ~1.6.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Test BLEU Score: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35.4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Analysis: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 BLEU score &gt; 30 indicates high-quality, understandable translations.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The model successfully handles subject-verb agreement and gendered nouns.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Evaluation (Comparative Analysis)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Method:</a:t>
            </a:r>
            <a:r>
              <a:rPr lang="en">
                <a:solidFill>
                  <a:schemeClr val="dk1"/>
                </a:solidFill>
              </a:rPr>
              <a:t> We compared our custom NMT model against a general Large Language Model (e.g., GPT-3.5).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Prompt: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"Translate the following German sentence to English: [Input]"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Comparison: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Custom NMT:</a:t>
            </a:r>
            <a:r>
              <a:rPr lang="en" sz="1800">
                <a:solidFill>
                  <a:schemeClr val="dk1"/>
                </a:solidFill>
              </a:rPr>
              <a:t> Faster inference, specialized for the specific dataset style, runs offline.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General LLM:</a:t>
            </a:r>
            <a:r>
              <a:rPr lang="en" sz="1800">
                <a:solidFill>
                  <a:schemeClr val="dk1"/>
                </a:solidFill>
              </a:rPr>
              <a:t> Higher fluency on idioms, but slower and requires API costs/internet.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Verdict:</a:t>
            </a:r>
            <a:r>
              <a:rPr lang="en">
                <a:solidFill>
                  <a:schemeClr val="dk1"/>
                </a:solidFill>
              </a:rPr>
              <a:t> Custom NMT is superior for specific, low-latency, privacy-focused tasks.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Architecture:</a:t>
            </a:r>
            <a:r>
              <a:rPr lang="en">
                <a:solidFill>
                  <a:schemeClr val="dk1"/>
                </a:solidFill>
              </a:rPr>
              <a:t> Attention mechanisms significantly outperform Recurrent Neural Networks (RNNs) in capturing long-range dependencies.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Data Importance:</a:t>
            </a:r>
            <a:r>
              <a:rPr lang="en">
                <a:solidFill>
                  <a:schemeClr val="dk1"/>
                </a:solidFill>
              </a:rPr>
              <a:t> "Bucketing" data by length reduced training time by ~20%.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Challenges: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Unknown Tokens (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&lt;unk&gt;</a:t>
            </a:r>
            <a:r>
              <a:rPr b="1" lang="en">
                <a:solidFill>
                  <a:schemeClr val="dk1"/>
                </a:solidFill>
              </a:rPr>
              <a:t>):</a:t>
            </a:r>
            <a:r>
              <a:rPr lang="en">
                <a:solidFill>
                  <a:schemeClr val="dk1"/>
                </a:solidFill>
              </a:rPr>
              <a:t> The model struggles with proper nouns (names/places) not seen during training.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Hyperparameters:</a:t>
            </a:r>
            <a:r>
              <a:rPr lang="en">
                <a:solidFill>
                  <a:schemeClr val="dk1"/>
                </a:solidFill>
              </a:rPr>
              <a:t> Transformer models are highly sensitive to Learning Rate adjustments (warm-up steps are crucial).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Scope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Conclusion:</a:t>
            </a:r>
            <a:r>
              <a:rPr lang="en">
                <a:solidFill>
                  <a:schemeClr val="dk1"/>
                </a:solidFill>
              </a:rPr>
              <a:t> Successfully built and deployed a Transformer-based translation system that bridges the gap between German and English with high accuracy.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Future Work: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Quantization:</a:t>
            </a:r>
            <a:r>
              <a:rPr lang="en">
                <a:solidFill>
                  <a:schemeClr val="dk1"/>
                </a:solidFill>
              </a:rPr>
              <a:t> Compressing the model to run on mobile devices.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Beam Search:</a:t>
            </a:r>
            <a:r>
              <a:rPr lang="en">
                <a:solidFill>
                  <a:schemeClr val="dk1"/>
                </a:solidFill>
              </a:rPr>
              <a:t> Implementing advanced decoding to explore multiple translation paths for better accuracy.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Multilingual:</a:t>
            </a:r>
            <a:r>
              <a:rPr lang="en">
                <a:solidFill>
                  <a:schemeClr val="dk1"/>
                </a:solidFill>
              </a:rPr>
              <a:t> Extending the system to support French and Spanish.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